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759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1. Say who we are, that Liam is not a real student, and what the three parts of the talk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1. Explain what Category H means, what it does not mean, and the three planning questions. Then hand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2. Strengths first, then Play. Keep it short — the pictures carry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2. Receptive — how he takes information in. Expressive — how he tells us what he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3 starts here. The captions are prompts only — say the full pair out loud. He has not slept well, so give a short list. Work has piled up, so give it back in small steps. The room is too loud, so offer a quiet space. It was only spoken, so write it down. His illness is seen as bad behaviour, so use the safety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3. The Other information, what the EA does, and the adapted decision. Then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14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3.png"/><Relationship Id="rId5" Type="http://schemas.openxmlformats.org/officeDocument/2006/relationships/image" Target="../media/image23.png"/><Relationship Id="rId10" Type="http://schemas.openxmlformats.org/officeDocument/2006/relationships/image" Target="../media/image19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12.pn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30.png"/><Relationship Id="rId5" Type="http://schemas.openxmlformats.org/officeDocument/2006/relationships/image" Target="../media/image28.png"/><Relationship Id="rId10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dark/classr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0"/>
            <a:ext cx="5242255" cy="3931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77724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C88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822960" y="777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E19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22960" y="18745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H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240280"/>
            <a:ext cx="5852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Intensive Behaviour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Intervention or Serious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Mental Illness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841248" y="4315968"/>
            <a:ext cx="1371600" cy="32004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822960" y="453542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Liam O'Connor  •  Grade 10  •  Adapted program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C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6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category means, and what it does not mean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301984" y="29260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626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301984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5577840" cy="4297680"/>
          </a:xfrm>
          <a:prstGeom prst="roundRect">
            <a:avLst>
              <a:gd name="adj" fmla="val 1778"/>
            </a:avLst>
          </a:prstGeom>
          <a:solidFill>
            <a:srgbClr val="EEF2F7"/>
          </a:solidFill>
          <a:ln/>
          <a:effectLst>
            <a:outerShdw blurRad="101600" dist="12700" dir="5400000" algn="bl" rotWithShape="0">
              <a:srgbClr val="9AA6B8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41248" y="15544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Category H means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17922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need the most support at school.</a:t>
            </a:r>
            <a:endParaRPr lang="en-US" sz="1600" dirty="0"/>
          </a:p>
        </p:txBody>
      </p:sp>
      <p:pic>
        <p:nvPicPr>
          <p:cNvPr id="9" name="Image 0" descr="img/check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31720"/>
            <a:ext cx="804672" cy="8046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37944" y="2331720"/>
            <a:ext cx="40599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he already do?</a:t>
            </a:r>
            <a:endParaRPr lang="en-US" sz="1500" dirty="0"/>
          </a:p>
        </p:txBody>
      </p:sp>
      <p:pic>
        <p:nvPicPr>
          <p:cNvPr id="11" name="Image 1" descr="img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319272"/>
            <a:ext cx="804672" cy="8046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37944" y="3319272"/>
            <a:ext cx="40599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getting in the way?</a:t>
            </a:r>
            <a:endParaRPr lang="en-US" sz="1500" dirty="0"/>
          </a:p>
        </p:txBody>
      </p:sp>
      <p:pic>
        <p:nvPicPr>
          <p:cNvPr id="13" name="Image 2" descr="img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06824"/>
            <a:ext cx="804672" cy="8046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37944" y="4306824"/>
            <a:ext cx="40599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support will help?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400800" y="1371600"/>
            <a:ext cx="5230368" cy="4297680"/>
          </a:xfrm>
          <a:prstGeom prst="roundRect">
            <a:avLst>
              <a:gd name="adj" fmla="val 1778"/>
            </a:avLst>
          </a:prstGeom>
          <a:solidFill>
            <a:srgbClr val="16263D"/>
          </a:solidFill>
          <a:ln/>
          <a:effectLst>
            <a:outerShdw blurRad="101600" dist="12700" dir="5400000" algn="bl" rotWithShape="0">
              <a:srgbClr val="9AA6B8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6675120" y="1554480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student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675120" y="3639312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Liam O'Connor  •  Grade 10</a:t>
            </a:r>
            <a:endParaRPr lang="en-US" sz="1900" dirty="0"/>
          </a:p>
        </p:txBody>
      </p:sp>
      <p:pic>
        <p:nvPicPr>
          <p:cNvPr id="19" name="Image 4" descr="img/dark/moo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4023360"/>
            <a:ext cx="493776" cy="49377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33488" y="4023360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and energy change a lot</a:t>
            </a:r>
            <a:endParaRPr lang="en-US" sz="1350" dirty="0"/>
          </a:p>
        </p:txBody>
      </p:sp>
      <p:pic>
        <p:nvPicPr>
          <p:cNvPr id="21" name="Image 5" descr="img/dark/slee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4572000"/>
            <a:ext cx="493776" cy="49377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333488" y="4572000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is often broken</a:t>
            </a:r>
            <a:endParaRPr lang="en-US" sz="1350" dirty="0"/>
          </a:p>
        </p:txBody>
      </p:sp>
      <p:pic>
        <p:nvPicPr>
          <p:cNvPr id="23" name="Image 6" descr="img/dark/togeth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5120640"/>
            <a:ext cx="493776" cy="49377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333488" y="5120640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School, family and doctors: one plan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566928" y="57607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us what support to plan. Not what he can achieve.</a:t>
            </a:r>
            <a:endParaRPr lang="en-US" sz="13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E4831C8-D95D-3EF5-E128-3A5A2EB2AB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92929" y="1716064"/>
            <a:ext cx="1866900" cy="19583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C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6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and Preferences, and Play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301984" y="29260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626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301984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/>
          <a:effectLst>
            <a:outerShdw blurRad="101600" dist="12700" dir="5400000" algn="bl" rotWithShape="0">
              <a:srgbClr val="9AA6B8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41248" y="15544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and Preferences</a:t>
            </a:r>
            <a:endParaRPr lang="en-US" sz="1400" dirty="0"/>
          </a:p>
        </p:txBody>
      </p:sp>
      <p:pic>
        <p:nvPicPr>
          <p:cNvPr id="8" name="Image 0" descr="img/wri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810512"/>
            <a:ext cx="1463040" cy="1097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9443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</a:t>
            </a:r>
            <a:endParaRPr lang="en-US" sz="1250" dirty="0"/>
          </a:p>
        </p:txBody>
      </p:sp>
      <p:pic>
        <p:nvPicPr>
          <p:cNvPr id="10" name="Image 1" descr="img/gui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1810512"/>
            <a:ext cx="1463040" cy="10972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62656" y="29443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Guitar</a:t>
            </a:r>
            <a:endParaRPr lang="en-US" sz="1250" dirty="0"/>
          </a:p>
        </p:txBody>
      </p:sp>
      <p:pic>
        <p:nvPicPr>
          <p:cNvPr id="12" name="Image 2" descr="img/te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0952" y="1810512"/>
            <a:ext cx="1463040" cy="10972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02352" y="29443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team</a:t>
            </a:r>
            <a:endParaRPr lang="en-US" sz="1250" dirty="0"/>
          </a:p>
        </p:txBody>
      </p:sp>
      <p:pic>
        <p:nvPicPr>
          <p:cNvPr id="14" name="Image 3" descr="img/qui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0648" y="1810512"/>
            <a:ext cx="1463040" cy="10972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42048" y="29443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quiet space</a:t>
            </a:r>
            <a:endParaRPr lang="en-US" sz="1250" dirty="0"/>
          </a:p>
        </p:txBody>
      </p:sp>
      <p:pic>
        <p:nvPicPr>
          <p:cNvPr id="16" name="Image 4" descr="img/checkli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0344" y="1810512"/>
            <a:ext cx="1463040" cy="10972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381744" y="29443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lists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566928" y="370332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/>
          <a:effectLst>
            <a:outerShdw blurRad="101600" dist="12700" dir="5400000" algn="bl" rotWithShape="0">
              <a:srgbClr val="9AA6B8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2"/>
          <p:cNvSpPr/>
          <p:nvPr/>
        </p:nvSpPr>
        <p:spPr>
          <a:xfrm>
            <a:off x="841248" y="3886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</a:t>
            </a:r>
            <a:endParaRPr lang="en-US" sz="1400" dirty="0"/>
          </a:p>
        </p:txBody>
      </p:sp>
      <p:pic>
        <p:nvPicPr>
          <p:cNvPr id="20" name="Image 5" descr="img/musi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560" y="4142232"/>
            <a:ext cx="1463040" cy="10972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22960" y="52760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</a:t>
            </a:r>
            <a:endParaRPr lang="en-US" sz="1250" dirty="0"/>
          </a:p>
        </p:txBody>
      </p:sp>
      <p:pic>
        <p:nvPicPr>
          <p:cNvPr id="22" name="Image 6" descr="img/gui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4142232"/>
            <a:ext cx="1463040" cy="10972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2962656" y="52760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songs</a:t>
            </a:r>
            <a:endParaRPr lang="en-US" sz="1250" dirty="0"/>
          </a:p>
        </p:txBody>
      </p:sp>
      <p:pic>
        <p:nvPicPr>
          <p:cNvPr id="24" name="Image 7" descr="img/te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0952" y="4142232"/>
            <a:ext cx="1463040" cy="10972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102352" y="52760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friends</a:t>
            </a:r>
            <a:endParaRPr lang="en-US" sz="1250" dirty="0"/>
          </a:p>
        </p:txBody>
      </p:sp>
      <p:pic>
        <p:nvPicPr>
          <p:cNvPr id="26" name="Image 8" descr="img/crow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70648" y="4142232"/>
            <a:ext cx="1463040" cy="109728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7242048" y="52760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big crowds</a:t>
            </a:r>
            <a:endParaRPr lang="en-US" sz="1250" dirty="0"/>
          </a:p>
        </p:txBody>
      </p:sp>
      <p:pic>
        <p:nvPicPr>
          <p:cNvPr id="28" name="Image 9" descr="img/qui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0344" y="4142232"/>
            <a:ext cx="1463040" cy="109728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9381744" y="52760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at home</a:t>
            </a:r>
            <a:endParaRPr lang="en-US" sz="1250" dirty="0"/>
          </a:p>
        </p:txBody>
      </p:sp>
      <p:sp>
        <p:nvSpPr>
          <p:cNvPr id="30" name="Text 18"/>
          <p:cNvSpPr/>
          <p:nvPr/>
        </p:nvSpPr>
        <p:spPr>
          <a:xfrm>
            <a:off x="566928" y="605332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what he can do.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C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6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he takes it in, and how he tells us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301984" y="29260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626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301984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EEF2F7"/>
          </a:solidFill>
          <a:ln/>
          <a:effectLst>
            <a:outerShdw blurRad="101600" dist="12700" dir="5400000" algn="bl" rotWithShape="0">
              <a:srgbClr val="9AA6B8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7" name="Image 0" descr="img/list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1188720" cy="1188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4028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6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Receptive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240280" y="2212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he takes it in</a:t>
            </a:r>
            <a:endParaRPr lang="en-US" sz="1300" dirty="0"/>
          </a:p>
        </p:txBody>
      </p:sp>
      <p:pic>
        <p:nvPicPr>
          <p:cNvPr id="10" name="Image 1" descr="img/spe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01752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81912" y="3017520"/>
            <a:ext cx="4041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calm sentences</a:t>
            </a:r>
            <a:endParaRPr lang="en-US" sz="1400" dirty="0"/>
          </a:p>
        </p:txBody>
      </p:sp>
      <p:pic>
        <p:nvPicPr>
          <p:cNvPr id="12" name="Image 2" descr="img/checkl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639312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81912" y="3639312"/>
            <a:ext cx="4041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instruction at a time</a:t>
            </a:r>
            <a:endParaRPr lang="en-US" sz="1400" dirty="0"/>
          </a:p>
        </p:txBody>
      </p:sp>
      <p:pic>
        <p:nvPicPr>
          <p:cNvPr id="14" name="Image 3" descr="img/writ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261104"/>
            <a:ext cx="548640" cy="548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81912" y="4261104"/>
            <a:ext cx="4041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down as well</a:t>
            </a:r>
            <a:endParaRPr lang="en-US" sz="1400" dirty="0"/>
          </a:p>
        </p:txBody>
      </p:sp>
      <p:pic>
        <p:nvPicPr>
          <p:cNvPr id="16" name="Image 4" descr="img/c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882896"/>
            <a:ext cx="548640" cy="5486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81912" y="4882896"/>
            <a:ext cx="4041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him time to answer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6236208" y="137160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16263D"/>
          </a:solidFill>
          <a:ln/>
          <a:effectLst>
            <a:outerShdw blurRad="101600" dist="12700" dir="5400000" algn="bl" rotWithShape="0">
              <a:srgbClr val="9AA6B8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9" name="Image 5" descr="img/dark/spee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1691640"/>
            <a:ext cx="1188720" cy="11887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90956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Expressive</a:t>
            </a:r>
            <a:endParaRPr lang="en-US" sz="2200" dirty="0"/>
          </a:p>
        </p:txBody>
      </p:sp>
      <p:sp>
        <p:nvSpPr>
          <p:cNvPr id="21" name="Text 13"/>
          <p:cNvSpPr/>
          <p:nvPr/>
        </p:nvSpPr>
        <p:spPr>
          <a:xfrm>
            <a:off x="7909560" y="2212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he tells us</a:t>
            </a:r>
            <a:endParaRPr lang="en-US" sz="1300" dirty="0"/>
          </a:p>
        </p:txBody>
      </p:sp>
      <p:pic>
        <p:nvPicPr>
          <p:cNvPr id="22" name="Image 6" descr="img/dark/writ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3063240"/>
            <a:ext cx="658368" cy="6583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360920" y="30632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is clearer than talking</a:t>
            </a:r>
            <a:endParaRPr lang="en-US" sz="1500" dirty="0"/>
          </a:p>
        </p:txBody>
      </p:sp>
      <p:pic>
        <p:nvPicPr>
          <p:cNvPr id="24" name="Image 7" descr="img/dark/warn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3840480"/>
            <a:ext cx="658368" cy="6583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360920" y="38404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break card means he must leave</a:t>
            </a:r>
            <a:endParaRPr lang="en-US" sz="1500" dirty="0"/>
          </a:p>
        </p:txBody>
      </p:sp>
      <p:sp>
        <p:nvSpPr>
          <p:cNvPr id="26" name="Shape 16"/>
          <p:cNvSpPr/>
          <p:nvPr/>
        </p:nvSpPr>
        <p:spPr>
          <a:xfrm>
            <a:off x="6537960" y="4681728"/>
            <a:ext cx="457200" cy="402336"/>
          </a:xfrm>
          <a:prstGeom prst="roundRect">
            <a:avLst>
              <a:gd name="adj" fmla="val 13636"/>
            </a:avLst>
          </a:prstGeom>
          <a:solidFill>
            <a:srgbClr val="C88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17"/>
          <p:cNvSpPr/>
          <p:nvPr/>
        </p:nvSpPr>
        <p:spPr>
          <a:xfrm>
            <a:off x="6537960" y="46817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Shape 18"/>
          <p:cNvSpPr/>
          <p:nvPr/>
        </p:nvSpPr>
        <p:spPr>
          <a:xfrm>
            <a:off x="7086600" y="4681728"/>
            <a:ext cx="457200" cy="402336"/>
          </a:xfrm>
          <a:prstGeom prst="roundRect">
            <a:avLst>
              <a:gd name="adj" fmla="val 13636"/>
            </a:avLst>
          </a:prstGeom>
          <a:solidFill>
            <a:srgbClr val="5A6E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19"/>
          <p:cNvSpPr/>
          <p:nvPr/>
        </p:nvSpPr>
        <p:spPr>
          <a:xfrm>
            <a:off x="7086600" y="46817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7635240" y="4681728"/>
            <a:ext cx="457200" cy="402336"/>
          </a:xfrm>
          <a:prstGeom prst="roundRect">
            <a:avLst>
              <a:gd name="adj" fmla="val 13636"/>
            </a:avLst>
          </a:prstGeom>
          <a:solidFill>
            <a:srgbClr val="5A6E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1"/>
          <p:cNvSpPr/>
          <p:nvPr/>
        </p:nvSpPr>
        <p:spPr>
          <a:xfrm>
            <a:off x="7635240" y="46817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Shape 22"/>
          <p:cNvSpPr/>
          <p:nvPr/>
        </p:nvSpPr>
        <p:spPr>
          <a:xfrm>
            <a:off x="8183880" y="4681728"/>
            <a:ext cx="457200" cy="402336"/>
          </a:xfrm>
          <a:prstGeom prst="roundRect">
            <a:avLst>
              <a:gd name="adj" fmla="val 13636"/>
            </a:avLst>
          </a:prstGeom>
          <a:solidFill>
            <a:srgbClr val="5A6E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23"/>
          <p:cNvSpPr/>
          <p:nvPr/>
        </p:nvSpPr>
        <p:spPr>
          <a:xfrm>
            <a:off x="8183880" y="46817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8732520" y="4681728"/>
            <a:ext cx="457200" cy="402336"/>
          </a:xfrm>
          <a:prstGeom prst="roundRect">
            <a:avLst>
              <a:gd name="adj" fmla="val 13636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25"/>
          <p:cNvSpPr/>
          <p:nvPr/>
        </p:nvSpPr>
        <p:spPr>
          <a:xfrm>
            <a:off x="8732520" y="46817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6"/>
          <p:cNvSpPr/>
          <p:nvPr/>
        </p:nvSpPr>
        <p:spPr>
          <a:xfrm>
            <a:off x="9418320" y="468172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I need to leave now      5 = I am doing well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566928" y="57607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 he can do it. Do not speak for him.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C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STYLE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6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struggle has an answer beside 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301984" y="29260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626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301984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5029200" cy="5059680"/>
          </a:xfrm>
          <a:prstGeom prst="roundRect">
            <a:avLst>
              <a:gd name="adj" fmla="val 1553"/>
            </a:avLst>
          </a:prstGeom>
          <a:solidFill>
            <a:srgbClr val="EEF2F7"/>
          </a:solidFill>
          <a:ln/>
          <a:effectLst>
            <a:outerShdw blurRad="101600" dist="12700" dir="5400000" algn="bl" rotWithShape="0">
              <a:srgbClr val="9AA6B8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41248" y="14630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when...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01968" y="1280160"/>
            <a:ext cx="5029200" cy="5059680"/>
          </a:xfrm>
          <a:prstGeom prst="roundRect">
            <a:avLst>
              <a:gd name="adj" fmla="val 1553"/>
            </a:avLst>
          </a:prstGeom>
          <a:solidFill>
            <a:srgbClr val="16263D"/>
          </a:solidFill>
          <a:ln/>
          <a:effectLst>
            <a:outerShdw blurRad="101600" dist="12700" dir="5400000" algn="bl" rotWithShape="0">
              <a:srgbClr val="9AA6B8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876288" y="14630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helps him learn best</a:t>
            </a:r>
            <a:endParaRPr lang="en-US" sz="1400" dirty="0"/>
          </a:p>
        </p:txBody>
      </p:sp>
      <p:pic>
        <p:nvPicPr>
          <p:cNvPr id="10" name="Image 0" descr="img/sl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912" y="1737360"/>
            <a:ext cx="713232" cy="7132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36192" y="240487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sleep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815584" y="2029968"/>
            <a:ext cx="530352" cy="237744"/>
          </a:xfrm>
          <a:prstGeom prst="rightArrow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img/dark/check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2" y="1737360"/>
            <a:ext cx="713232" cy="7132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71232" y="243230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D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list</a:t>
            </a:r>
            <a:endParaRPr lang="en-US" sz="1250" dirty="0"/>
          </a:p>
        </p:txBody>
      </p:sp>
      <p:pic>
        <p:nvPicPr>
          <p:cNvPr id="15" name="Image 2" descr="img/pap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4912" y="2596896"/>
            <a:ext cx="713232" cy="7132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36192" y="324307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piled up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815584" y="2889504"/>
            <a:ext cx="530352" cy="237744"/>
          </a:xfrm>
          <a:prstGeom prst="rightArrow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3" descr="img/dark/step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9952" y="2596896"/>
            <a:ext cx="713232" cy="7132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571232" y="329184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D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steps</a:t>
            </a:r>
            <a:endParaRPr lang="en-US" sz="1250" dirty="0"/>
          </a:p>
        </p:txBody>
      </p:sp>
      <p:pic>
        <p:nvPicPr>
          <p:cNvPr id="20" name="Image 4" descr="img/crow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4912" y="3456432"/>
            <a:ext cx="713232" cy="7132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30096" y="41005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loud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5815584" y="3749040"/>
            <a:ext cx="530352" cy="237744"/>
          </a:xfrm>
          <a:prstGeom prst="rightArrow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3" name="Image 5" descr="img/dark/qui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9952" y="3456432"/>
            <a:ext cx="713232" cy="7132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571232" y="41513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D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space</a:t>
            </a:r>
            <a:endParaRPr lang="en-US" sz="1250" dirty="0"/>
          </a:p>
        </p:txBody>
      </p:sp>
      <p:pic>
        <p:nvPicPr>
          <p:cNvPr id="25" name="Image 6" descr="img/spee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24912" y="4315968"/>
            <a:ext cx="713232" cy="7132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536192" y="4964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spoken</a:t>
            </a:r>
            <a:endParaRPr lang="en-US" sz="1250" dirty="0"/>
          </a:p>
        </p:txBody>
      </p:sp>
      <p:sp>
        <p:nvSpPr>
          <p:cNvPr id="27" name="Shape 18"/>
          <p:cNvSpPr/>
          <p:nvPr/>
        </p:nvSpPr>
        <p:spPr>
          <a:xfrm>
            <a:off x="5815584" y="4608576"/>
            <a:ext cx="530352" cy="237744"/>
          </a:xfrm>
          <a:prstGeom prst="rightArrow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8" name="Image 7" descr="img/dark/writ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59952" y="4315968"/>
            <a:ext cx="713232" cy="71323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571232" y="501091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D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down</a:t>
            </a:r>
            <a:endParaRPr lang="en-US" sz="1250" dirty="0"/>
          </a:p>
        </p:txBody>
      </p:sp>
      <p:pic>
        <p:nvPicPr>
          <p:cNvPr id="30" name="Image 8" descr="img/warn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24912" y="5175504"/>
            <a:ext cx="713232" cy="71323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536192" y="587044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as bad</a:t>
            </a:r>
            <a:endParaRPr lang="en-US" sz="1250" dirty="0"/>
          </a:p>
        </p:txBody>
      </p:sp>
      <p:sp>
        <p:nvSpPr>
          <p:cNvPr id="32" name="Shape 21"/>
          <p:cNvSpPr/>
          <p:nvPr/>
        </p:nvSpPr>
        <p:spPr>
          <a:xfrm>
            <a:off x="5815584" y="5468112"/>
            <a:ext cx="530352" cy="237744"/>
          </a:xfrm>
          <a:prstGeom prst="rightArrow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3" name="Image 9" descr="img/dark/shiel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59952" y="5175504"/>
            <a:ext cx="713232" cy="713232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7571232" y="587044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D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plan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C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OTHER, AND THE PROGRAM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6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Adapted: same Grade 10 goals, different road there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301984" y="29260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626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301984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6766560" cy="2286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/>
          <a:effectLst>
            <a:outerShdw blurRad="101600" dist="12700" dir="5400000" algn="bl" rotWithShape="0">
              <a:srgbClr val="9AA6B8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41248" y="15544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400" dirty="0"/>
          </a:p>
        </p:txBody>
      </p:sp>
      <p:pic>
        <p:nvPicPr>
          <p:cNvPr id="8" name="Image 0" descr="img/toget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828800"/>
            <a:ext cx="1051560" cy="868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73405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and school</a:t>
            </a:r>
            <a:endParaRPr lang="en-US" sz="1150" dirty="0"/>
          </a:p>
        </p:txBody>
      </p:sp>
      <p:pic>
        <p:nvPicPr>
          <p:cNvPr id="10" name="Image 1" descr="img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" y="1828800"/>
            <a:ext cx="1051560" cy="8686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59152" y="273405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 plan</a:t>
            </a:r>
            <a:endParaRPr lang="en-US" sz="1150" dirty="0"/>
          </a:p>
        </p:txBody>
      </p:sp>
      <p:pic>
        <p:nvPicPr>
          <p:cNvPr id="12" name="Image 2" descr="img/medic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5384" y="1828800"/>
            <a:ext cx="1051560" cy="8686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86784" y="273405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manage medicine</a:t>
            </a:r>
            <a:endParaRPr lang="en-US" sz="1150" dirty="0"/>
          </a:p>
        </p:txBody>
      </p:sp>
      <p:pic>
        <p:nvPicPr>
          <p:cNvPr id="14" name="Image 3" descr="img/checkl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3016" y="1828800"/>
            <a:ext cx="1051560" cy="8686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14416" y="273405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checked by plan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66928" y="3840480"/>
            <a:ext cx="6766560" cy="1965960"/>
          </a:xfrm>
          <a:prstGeom prst="roundRect">
            <a:avLst>
              <a:gd name="adj" fmla="val 3721"/>
            </a:avLst>
          </a:prstGeom>
          <a:solidFill>
            <a:srgbClr val="16263D"/>
          </a:solidFill>
          <a:ln/>
          <a:effectLst>
            <a:outerShdw blurRad="101600" dist="12700" dir="5400000" algn="bl" rotWithShape="0">
              <a:srgbClr val="9AA6B8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1"/>
          <p:cNvSpPr/>
          <p:nvPr/>
        </p:nvSpPr>
        <p:spPr>
          <a:xfrm>
            <a:off x="841248" y="402336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EA does</a:t>
            </a:r>
            <a:endParaRPr lang="en-US" sz="1400" dirty="0"/>
          </a:p>
        </p:txBody>
      </p:sp>
      <p:pic>
        <p:nvPicPr>
          <p:cNvPr id="18" name="Image 4" descr="img/dark/suppo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4279392"/>
            <a:ext cx="1645920" cy="1234440"/>
          </a:xfrm>
          <a:prstGeom prst="rect">
            <a:avLst/>
          </a:prstGeom>
        </p:spPr>
      </p:pic>
      <p:pic>
        <p:nvPicPr>
          <p:cNvPr id="19" name="Image 5" descr="img/dark/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7480" y="4315968"/>
            <a:ext cx="384048" cy="38404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246120" y="431596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plan. Tell staff.</a:t>
            </a:r>
            <a:endParaRPr lang="en-US" sz="1250" dirty="0"/>
          </a:p>
        </p:txBody>
      </p:sp>
      <p:pic>
        <p:nvPicPr>
          <p:cNvPr id="21" name="Image 6" descr="img/dark/qui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7480" y="4736592"/>
            <a:ext cx="384048" cy="38404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3246120" y="473659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calm and kind.</a:t>
            </a:r>
            <a:endParaRPr lang="en-US" sz="1250" dirty="0"/>
          </a:p>
        </p:txBody>
      </p:sp>
      <p:pic>
        <p:nvPicPr>
          <p:cNvPr id="23" name="Image 7" descr="img/dark/writ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7480" y="5157216"/>
            <a:ext cx="384048" cy="38404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246120" y="515721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what you saw.</a:t>
            </a:r>
            <a:endParaRPr lang="en-US" sz="1250" dirty="0"/>
          </a:p>
        </p:txBody>
      </p:sp>
      <p:sp>
        <p:nvSpPr>
          <p:cNvPr id="25" name="Shape 15"/>
          <p:cNvSpPr/>
          <p:nvPr/>
        </p:nvSpPr>
        <p:spPr>
          <a:xfrm>
            <a:off x="7589520" y="1371600"/>
            <a:ext cx="4041648" cy="4434840"/>
          </a:xfrm>
          <a:prstGeom prst="roundRect">
            <a:avLst>
              <a:gd name="adj" fmla="val 1810"/>
            </a:avLst>
          </a:prstGeom>
          <a:solidFill>
            <a:srgbClr val="EEF2F7"/>
          </a:solidFill>
          <a:ln/>
          <a:effectLst>
            <a:outerShdw blurRad="101600" dist="12700" dir="5400000" algn="bl" rotWithShape="0">
              <a:srgbClr val="9AA6B8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16"/>
          <p:cNvSpPr/>
          <p:nvPr/>
        </p:nvSpPr>
        <p:spPr>
          <a:xfrm>
            <a:off x="7863840" y="155448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or Modified</a:t>
            </a:r>
            <a:endParaRPr lang="en-US" sz="1400" dirty="0"/>
          </a:p>
        </p:txBody>
      </p:sp>
      <p:sp>
        <p:nvSpPr>
          <p:cNvPr id="27" name="Text 17"/>
          <p:cNvSpPr/>
          <p:nvPr/>
        </p:nvSpPr>
        <p:spPr>
          <a:xfrm>
            <a:off x="7863840" y="1773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decision</a:t>
            </a:r>
            <a:endParaRPr lang="en-US" sz="1150" dirty="0"/>
          </a:p>
        </p:txBody>
      </p:sp>
      <p:sp>
        <p:nvSpPr>
          <p:cNvPr id="28" name="Text 18"/>
          <p:cNvSpPr/>
          <p:nvPr/>
        </p:nvSpPr>
        <p:spPr>
          <a:xfrm>
            <a:off x="7863840" y="204825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Adapted program</a:t>
            </a:r>
            <a:endParaRPr lang="en-US" sz="2400" dirty="0"/>
          </a:p>
        </p:txBody>
      </p:sp>
      <p:sp>
        <p:nvSpPr>
          <p:cNvPr id="29" name="Text 19"/>
          <p:cNvSpPr/>
          <p:nvPr/>
        </p:nvSpPr>
        <p:spPr>
          <a:xfrm>
            <a:off x="7863840" y="252374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Grade 10 goals. We change how he learns.</a:t>
            </a:r>
            <a:endParaRPr lang="en-US" sz="1400" dirty="0"/>
          </a:p>
        </p:txBody>
      </p:sp>
      <p:pic>
        <p:nvPicPr>
          <p:cNvPr id="30" name="Image 8" descr="img/calenda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3840" y="3127248"/>
            <a:ext cx="713232" cy="71323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8741664" y="3127248"/>
            <a:ext cx="2596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flexible timetable</a:t>
            </a:r>
            <a:endParaRPr lang="en-US" sz="1350" dirty="0"/>
          </a:p>
        </p:txBody>
      </p:sp>
      <p:pic>
        <p:nvPicPr>
          <p:cNvPr id="32" name="Image 9" descr="img/cloc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63840" y="3968496"/>
            <a:ext cx="713232" cy="713232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8741664" y="3968496"/>
            <a:ext cx="2596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time after illness</a:t>
            </a:r>
            <a:endParaRPr lang="en-US" sz="1350" dirty="0"/>
          </a:p>
        </p:txBody>
      </p:sp>
      <p:pic>
        <p:nvPicPr>
          <p:cNvPr id="34" name="Image 10" descr="img/quie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63840" y="4809744"/>
            <a:ext cx="713232" cy="713232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8741664" y="4809744"/>
            <a:ext cx="2596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quiet room for tests</a:t>
            </a:r>
            <a:endParaRPr lang="en-US" sz="1350" dirty="0"/>
          </a:p>
        </p:txBody>
      </p:sp>
      <p:sp>
        <p:nvSpPr>
          <p:cNvPr id="36" name="Text 23"/>
          <p:cNvSpPr/>
          <p:nvPr/>
        </p:nvSpPr>
        <p:spPr>
          <a:xfrm>
            <a:off x="566928" y="603504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Happy to take questions.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556</Words>
  <Application>Microsoft Macintosh PowerPoint</Application>
  <PresentationFormat>Widescreen</PresentationFormat>
  <Paragraphs>103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 PC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Category H — Intensive Behaviour Intervention or Serious Mental Illness</dc:title>
  <dc:subject>Category H — Intensive Behaviour Intervention or Serious Mental Illness</dc:subject>
  <dc:creator>Ujjwal Vashisht</dc:creator>
  <cp:lastModifiedBy>Peter Chen</cp:lastModifiedBy>
  <cp:revision>3</cp:revision>
  <dcterms:created xsi:type="dcterms:W3CDTF">2026-07-30T05:01:28Z</dcterms:created>
  <dcterms:modified xsi:type="dcterms:W3CDTF">2026-07-30T15:57:17Z</dcterms:modified>
</cp:coreProperties>
</file>